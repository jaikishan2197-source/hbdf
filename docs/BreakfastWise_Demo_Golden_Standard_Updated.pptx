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4D6FC5-15E9-457F-8978-651FE5C5D58F}" v="1" dt="2026-10-21T16:32:10.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 userId="8eddc4f8-40a1-49ff-9eca-35f95811660b" providerId="ADAL" clId="{90CAD2EB-C547-42C3-9F1F-0B5E34014355}"/>
    <pc:docChg chg="undo custSel modSld">
      <pc:chgData name="Shan" userId="8eddc4f8-40a1-49ff-9eca-35f95811660b" providerId="ADAL" clId="{90CAD2EB-C547-42C3-9F1F-0B5E34014355}" dt="2026-10-21T16:59:12.704" v="22" actId="20577"/>
      <pc:docMkLst>
        <pc:docMk/>
      </pc:docMkLst>
      <pc:sldChg chg="addSp delSp modSp mod">
        <pc:chgData name="Shan" userId="8eddc4f8-40a1-49ff-9eca-35f95811660b" providerId="ADAL" clId="{90CAD2EB-C547-42C3-9F1F-0B5E34014355}" dt="2026-10-21T16:59:12.704" v="22" actId="20577"/>
        <pc:sldMkLst>
          <pc:docMk/>
          <pc:sldMk cId="0" sldId="260"/>
        </pc:sldMkLst>
        <pc:spChg chg="mod">
          <ac:chgData name="Shan" userId="8eddc4f8-40a1-49ff-9eca-35f95811660b" providerId="ADAL" clId="{90CAD2EB-C547-42C3-9F1F-0B5E34014355}" dt="2026-10-21T16:59:12.704" v="22" actId="20577"/>
          <ac:spMkLst>
            <pc:docMk/>
            <pc:sldMk cId="0" sldId="260"/>
            <ac:spMk id="2" creationId="{00000000-0000-0000-0000-000000000000}"/>
          </ac:spMkLst>
        </pc:spChg>
        <pc:spChg chg="del">
          <ac:chgData name="Shan" userId="8eddc4f8-40a1-49ff-9eca-35f95811660b" providerId="ADAL" clId="{90CAD2EB-C547-42C3-9F1F-0B5E34014355}" dt="2026-10-21T16:31:22.526" v="0" actId="478"/>
          <ac:spMkLst>
            <pc:docMk/>
            <pc:sldMk cId="0" sldId="260"/>
            <ac:spMk id="3" creationId="{00000000-0000-0000-0000-000000000000}"/>
          </ac:spMkLst>
        </pc:spChg>
        <pc:spChg chg="mod">
          <ac:chgData name="Shan" userId="8eddc4f8-40a1-49ff-9eca-35f95811660b" providerId="ADAL" clId="{90CAD2EB-C547-42C3-9F1F-0B5E34014355}" dt="2026-10-21T16:32:10.919" v="10" actId="164"/>
          <ac:spMkLst>
            <pc:docMk/>
            <pc:sldMk cId="0" sldId="260"/>
            <ac:spMk id="5" creationId="{00000000-0000-0000-0000-000000000000}"/>
          </ac:spMkLst>
        </pc:spChg>
        <pc:spChg chg="mod">
          <ac:chgData name="Shan" userId="8eddc4f8-40a1-49ff-9eca-35f95811660b" providerId="ADAL" clId="{90CAD2EB-C547-42C3-9F1F-0B5E34014355}" dt="2026-10-21T16:32:10.919" v="10" actId="164"/>
          <ac:spMkLst>
            <pc:docMk/>
            <pc:sldMk cId="0" sldId="260"/>
            <ac:spMk id="7" creationId="{00000000-0000-0000-0000-000000000000}"/>
          </ac:spMkLst>
        </pc:spChg>
        <pc:spChg chg="add del mod">
          <ac:chgData name="Shan" userId="8eddc4f8-40a1-49ff-9eca-35f95811660b" providerId="ADAL" clId="{90CAD2EB-C547-42C3-9F1F-0B5E34014355}" dt="2026-10-21T16:31:41.022" v="5" actId="478"/>
          <ac:spMkLst>
            <pc:docMk/>
            <pc:sldMk cId="0" sldId="260"/>
            <ac:spMk id="11" creationId="{A79637A5-DB8E-C717-908F-F79BCDF44654}"/>
          </ac:spMkLst>
        </pc:spChg>
        <pc:grpChg chg="add mod">
          <ac:chgData name="Shan" userId="8eddc4f8-40a1-49ff-9eca-35f95811660b" providerId="ADAL" clId="{90CAD2EB-C547-42C3-9F1F-0B5E34014355}" dt="2026-10-21T16:59:05.868" v="12" actId="1076"/>
          <ac:grpSpMkLst>
            <pc:docMk/>
            <pc:sldMk cId="0" sldId="260"/>
            <ac:grpSpMk id="12" creationId="{02CC949A-F025-BDE3-35E4-1AB388A675A6}"/>
          </ac:grpSpMkLst>
        </pc:grpChg>
        <pc:graphicFrameChg chg="del">
          <ac:chgData name="Shan" userId="8eddc4f8-40a1-49ff-9eca-35f95811660b" providerId="ADAL" clId="{90CAD2EB-C547-42C3-9F1F-0B5E34014355}" dt="2026-10-21T16:31:22.526" v="0" actId="478"/>
          <ac:graphicFrameMkLst>
            <pc:docMk/>
            <pc:sldMk cId="0" sldId="260"/>
            <ac:graphicFrameMk id="4" creationId="{00000000-0000-0000-0000-000000000000}"/>
          </ac:graphicFrameMkLst>
        </pc:graphicFrameChg>
        <pc:picChg chg="mod">
          <ac:chgData name="Shan" userId="8eddc4f8-40a1-49ff-9eca-35f95811660b" providerId="ADAL" clId="{90CAD2EB-C547-42C3-9F1F-0B5E34014355}" dt="2026-10-21T16:32:10.919" v="10" actId="164"/>
          <ac:picMkLst>
            <pc:docMk/>
            <pc:sldMk cId="0" sldId="260"/>
            <ac:picMk id="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31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no more than 10 seconds here. Say your team name, your product in one line, and who your four points of contact are. Replace every bracketed item before you present.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Introduce one real-feeling person and the problem from their side. Use the persona from your MRD. Keep the workaround honest: “no competitors” is almost never true.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One insight only, the one that most shaped your product. Mark anything you could not verify as an assumption; judges reward that honesty.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Name your three Must-Haves and the metric that proves them. Then show what you cut and why. A clear cut list is one of the strongest signals of product thinking.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about two minutes. Leave this slide up for a moment so judges see which criteria you will show, then switch to the app and walk through each row in order. Your Dev drives, your BA narrates. If the live app fails, play the backup recording straight away.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Be specific and honest. One prompt that really helped, one thing the AI got wrong and how you caught it, and what you changed. This slide feeds the AI collaboration score.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54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54A"/>
              </a:gs>
              <a:gs pos="60000">
                <a:srgbClr val="262381"/>
              </a:gs>
              <a:gs pos="100000">
                <a:srgbClr val="312F92"/>
              </a:gs>
            </a:gsLst>
            <a:lin ang="2700000" scaled="0"/>
          </a:gradFill>
          <a:ln/>
        </p:spPr>
        <p:txBody>
          <a:bodyPr/>
          <a:lstStyle/>
          <a:p>
            <a:endParaRPr lang="en-IN"/>
          </a:p>
        </p:txBody>
      </p:sp>
      <p:sp>
        <p:nvSpPr>
          <p:cNvPr id="3" name="Shape 1"/>
          <p:cNvSpPr/>
          <p:nvPr/>
        </p:nvSpPr>
        <p:spPr>
          <a:xfrm>
            <a:off x="9017000" y="698500"/>
            <a:ext cx="2286000" cy="2286000"/>
          </a:xfrm>
          <a:prstGeom prst="roundRect">
            <a:avLst>
              <a:gd name="adj" fmla="val 50000"/>
            </a:avLst>
          </a:prstGeom>
          <a:gradFill rotWithShape="1">
            <a:gsLst>
              <a:gs pos="0">
                <a:srgbClr val="FFB066">
                  <a:alpha val="95000"/>
                </a:srgbClr>
              </a:gs>
              <a:gs pos="55000">
                <a:srgbClr val="F8821E">
                  <a:alpha val="95000"/>
                </a:srgbClr>
              </a:gs>
              <a:gs pos="100000">
                <a:srgbClr val="D9620A">
                  <a:alpha val="95000"/>
                </a:srgbClr>
              </a:gs>
            </a:gsLst>
            <a:path path="circle">
              <a:fillToRect l="35000" t="35000" r="65000" b="65000"/>
            </a:path>
          </a:gradFill>
          <a:ln/>
        </p:spPr>
        <p:txBody>
          <a:bodyPr/>
          <a:lstStyle/>
          <a:p>
            <a:endParaRPr lang="en-IN"/>
          </a:p>
        </p:txBody>
      </p:sp>
      <p:sp>
        <p:nvSpPr>
          <p:cNvPr id="4" name="Shape 2"/>
          <p:cNvSpPr/>
          <p:nvPr/>
        </p:nvSpPr>
        <p:spPr>
          <a:xfrm>
            <a:off x="812767" y="711150"/>
            <a:ext cx="2120801" cy="736534"/>
          </a:xfrm>
          <a:prstGeom prst="roundRect">
            <a:avLst>
              <a:gd name="adj" fmla="val 15519"/>
            </a:avLst>
          </a:prstGeom>
          <a:solidFill>
            <a:srgbClr val="FBF8F2"/>
          </a:solidFill>
          <a:ln/>
        </p:spPr>
        <p:txBody>
          <a:bodyPr/>
          <a:lstStyle/>
          <a:p>
            <a:endParaRPr lang="en-IN"/>
          </a:p>
        </p:txBody>
      </p:sp>
      <p:pic>
        <p:nvPicPr>
          <p:cNvPr id="5" name="Image 0" descr="JJ College of Engineering and Technology logo"/>
          <p:cNvPicPr>
            <a:picLocks noChangeAspect="1"/>
          </p:cNvPicPr>
          <p:nvPr/>
        </p:nvPicPr>
        <p:blipFill>
          <a:blip r:embed="rId3"/>
          <a:srcRect t="-283" b="-283"/>
          <a:stretch/>
        </p:blipFill>
        <p:spPr>
          <a:xfrm>
            <a:off x="952417" y="800034"/>
            <a:ext cx="1841500" cy="558767"/>
          </a:xfrm>
          <a:prstGeom prst="rect">
            <a:avLst/>
          </a:prstGeom>
        </p:spPr>
      </p:pic>
      <p:sp>
        <p:nvSpPr>
          <p:cNvPr id="6" name="Text 3"/>
          <p:cNvSpPr/>
          <p:nvPr/>
        </p:nvSpPr>
        <p:spPr>
          <a:xfrm>
            <a:off x="812767" y="2638309"/>
            <a:ext cx="7848600" cy="256497"/>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B066"/>
                </a:solidFill>
                <a:latin typeface="Arial" pitchFamily="34" charset="0"/>
                <a:ea typeface="Arial" pitchFamily="34" charset="-122"/>
                <a:cs typeface="Arial" pitchFamily="34" charset="-120"/>
              </a:rPr>
              <a:t>AI-PDLC HACKATHON · TEAM 16</a:t>
            </a:r>
            <a:endParaRPr lang="en-US" sz="1300" dirty="0"/>
          </a:p>
        </p:txBody>
      </p:sp>
      <p:sp>
        <p:nvSpPr>
          <p:cNvPr id="7" name="Text 4"/>
          <p:cNvSpPr>
            <a:spLocks noGrp="1"/>
          </p:cNvSpPr>
          <p:nvPr>
            <p:ph type="title"/>
          </p:nvPr>
        </p:nvSpPr>
        <p:spPr>
          <a:xfrm>
            <a:off x="812767" y="2996406"/>
            <a:ext cx="7848600" cy="685783"/>
          </a:xfrm>
          <a:prstGeom prst="rect">
            <a:avLst/>
          </a:prstGeom>
          <a:noFill/>
          <a:ln/>
        </p:spPr>
        <p:txBody>
          <a:bodyPr wrap="square" lIns="0" tIns="0" rIns="0" bIns="0" rtlCol="0" anchor="t">
            <a:normAutofit/>
          </a:bodyPr>
          <a:lstStyle/>
          <a:p>
            <a:pPr marL="0" indent="0" algn="l">
              <a:lnSpc>
                <a:spcPts val="5200"/>
              </a:lnSpc>
              <a:buNone/>
            </a:pPr>
            <a:r>
              <a:rPr lang="en-US" sz="5200" b="1" i="0" dirty="0">
                <a:solidFill>
                  <a:srgbClr val="FBF8F2"/>
                </a:solidFill>
                <a:latin typeface="Arial" pitchFamily="34" charset="0"/>
                <a:ea typeface="Arial" pitchFamily="34" charset="-122"/>
                <a:cs typeface="Arial" pitchFamily="34" charset="-120"/>
              </a:rPr>
              <a:t>BreakfastWise</a:t>
            </a:r>
            <a:endParaRPr lang="en-US" sz="5200" dirty="0"/>
          </a:p>
        </p:txBody>
      </p:sp>
      <p:sp>
        <p:nvSpPr>
          <p:cNvPr id="8" name="Text 5"/>
          <p:cNvSpPr/>
          <p:nvPr/>
        </p:nvSpPr>
        <p:spPr>
          <a:xfrm>
            <a:off x="812767" y="3783790"/>
            <a:ext cx="7848600" cy="316772"/>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D6D3F0"/>
                </a:solidFill>
                <a:latin typeface="Arial" pitchFamily="34" charset="0"/>
                <a:ea typeface="Arial" pitchFamily="34" charset="-122"/>
                <a:cs typeface="Arial" pitchFamily="34" charset="-120"/>
              </a:rPr>
              <a:t>Tomorrow’s breakfast covers and prep quantities, for hotel head chefs</a:t>
            </a:r>
            <a:endParaRPr lang="en-US" sz="1700" dirty="0"/>
          </a:p>
        </p:txBody>
      </p:sp>
      <p:sp>
        <p:nvSpPr>
          <p:cNvPr id="9" name="Shape 6"/>
          <p:cNvSpPr/>
          <p:nvPr/>
        </p:nvSpPr>
        <p:spPr>
          <a:xfrm>
            <a:off x="812767" y="5265704"/>
            <a:ext cx="2546366" cy="779529"/>
          </a:xfrm>
          <a:prstGeom prst="roundRect">
            <a:avLst>
              <a:gd name="adj" fmla="val 16292"/>
            </a:avLst>
          </a:prstGeom>
          <a:solidFill>
            <a:srgbClr val="26235E"/>
          </a:solidFill>
          <a:ln/>
        </p:spPr>
        <p:txBody>
          <a:bodyPr/>
          <a:lstStyle/>
          <a:p>
            <a:endParaRPr lang="en-IN"/>
          </a:p>
        </p:txBody>
      </p:sp>
      <p:sp>
        <p:nvSpPr>
          <p:cNvPr id="10" name="Text 7"/>
          <p:cNvSpPr/>
          <p:nvPr/>
        </p:nvSpPr>
        <p:spPr>
          <a:xfrm>
            <a:off x="977801"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BA</a:t>
            </a:r>
            <a:endParaRPr lang="en-US" sz="1200" dirty="0"/>
          </a:p>
        </p:txBody>
      </p:sp>
      <p:sp>
        <p:nvSpPr>
          <p:cNvPr id="11" name="Text 8"/>
          <p:cNvSpPr/>
          <p:nvPr/>
        </p:nvSpPr>
        <p:spPr>
          <a:xfrm>
            <a:off x="977801"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Jaikishan S</a:t>
            </a:r>
            <a:endParaRPr lang="en-US" sz="1400" dirty="0"/>
          </a:p>
        </p:txBody>
      </p:sp>
      <p:sp>
        <p:nvSpPr>
          <p:cNvPr id="12" name="Shape 9"/>
          <p:cNvSpPr/>
          <p:nvPr/>
        </p:nvSpPr>
        <p:spPr>
          <a:xfrm>
            <a:off x="3486133" y="5265704"/>
            <a:ext cx="2546366" cy="779529"/>
          </a:xfrm>
          <a:prstGeom prst="roundRect">
            <a:avLst>
              <a:gd name="adj" fmla="val 16292"/>
            </a:avLst>
          </a:prstGeom>
          <a:solidFill>
            <a:srgbClr val="26235E"/>
          </a:solidFill>
          <a:ln/>
        </p:spPr>
        <p:txBody>
          <a:bodyPr/>
          <a:lstStyle/>
          <a:p>
            <a:endParaRPr lang="en-IN"/>
          </a:p>
        </p:txBody>
      </p:sp>
      <p:sp>
        <p:nvSpPr>
          <p:cNvPr id="13" name="Text 10"/>
          <p:cNvSpPr/>
          <p:nvPr/>
        </p:nvSpPr>
        <p:spPr>
          <a:xfrm>
            <a:off x="3651167"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UI/UX</a:t>
            </a:r>
            <a:endParaRPr lang="en-US" sz="1200" dirty="0"/>
          </a:p>
        </p:txBody>
      </p:sp>
      <p:sp>
        <p:nvSpPr>
          <p:cNvPr id="14" name="Text 11"/>
          <p:cNvSpPr/>
          <p:nvPr/>
        </p:nvSpPr>
        <p:spPr>
          <a:xfrm>
            <a:off x="3651167"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Poojaragavi A</a:t>
            </a:r>
            <a:endParaRPr lang="en-US" sz="1400" dirty="0"/>
          </a:p>
        </p:txBody>
      </p:sp>
      <p:sp>
        <p:nvSpPr>
          <p:cNvPr id="15" name="Shape 12"/>
          <p:cNvSpPr/>
          <p:nvPr/>
        </p:nvSpPr>
        <p:spPr>
          <a:xfrm>
            <a:off x="6159500" y="5265704"/>
            <a:ext cx="2546366" cy="779529"/>
          </a:xfrm>
          <a:prstGeom prst="roundRect">
            <a:avLst>
              <a:gd name="adj" fmla="val 16292"/>
            </a:avLst>
          </a:prstGeom>
          <a:solidFill>
            <a:srgbClr val="26235E"/>
          </a:solidFill>
          <a:ln/>
        </p:spPr>
        <p:txBody>
          <a:bodyPr/>
          <a:lstStyle/>
          <a:p>
            <a:endParaRPr lang="en-IN"/>
          </a:p>
        </p:txBody>
      </p:sp>
      <p:sp>
        <p:nvSpPr>
          <p:cNvPr id="16" name="Text 13"/>
          <p:cNvSpPr/>
          <p:nvPr/>
        </p:nvSpPr>
        <p:spPr>
          <a:xfrm>
            <a:off x="6324534"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Dev</a:t>
            </a:r>
            <a:endParaRPr lang="en-US" sz="1200" dirty="0"/>
          </a:p>
        </p:txBody>
      </p:sp>
      <p:sp>
        <p:nvSpPr>
          <p:cNvPr id="17" name="Text 14"/>
          <p:cNvSpPr/>
          <p:nvPr/>
        </p:nvSpPr>
        <p:spPr>
          <a:xfrm>
            <a:off x="6324534"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Shalini A</a:t>
            </a:r>
            <a:endParaRPr lang="en-US" sz="1400" dirty="0"/>
          </a:p>
        </p:txBody>
      </p:sp>
      <p:sp>
        <p:nvSpPr>
          <p:cNvPr id="18" name="Shape 15"/>
          <p:cNvSpPr/>
          <p:nvPr/>
        </p:nvSpPr>
        <p:spPr>
          <a:xfrm>
            <a:off x="8832866" y="5265704"/>
            <a:ext cx="2546366" cy="779529"/>
          </a:xfrm>
          <a:prstGeom prst="roundRect">
            <a:avLst>
              <a:gd name="adj" fmla="val 16292"/>
            </a:avLst>
          </a:prstGeom>
          <a:solidFill>
            <a:srgbClr val="26235E"/>
          </a:solidFill>
          <a:ln/>
        </p:spPr>
        <p:txBody>
          <a:bodyPr/>
          <a:lstStyle/>
          <a:p>
            <a:endParaRPr lang="en-IN"/>
          </a:p>
        </p:txBody>
      </p:sp>
      <p:sp>
        <p:nvSpPr>
          <p:cNvPr id="19" name="Text 16"/>
          <p:cNvSpPr/>
          <p:nvPr/>
        </p:nvSpPr>
        <p:spPr>
          <a:xfrm>
            <a:off x="8997900"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QA</a:t>
            </a:r>
            <a:endParaRPr lang="en-US" sz="1200" dirty="0"/>
          </a:p>
        </p:txBody>
      </p:sp>
      <p:sp>
        <p:nvSpPr>
          <p:cNvPr id="20" name="Text 17"/>
          <p:cNvSpPr/>
          <p:nvPr/>
        </p:nvSpPr>
        <p:spPr>
          <a:xfrm>
            <a:off x="8997900"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Ayesha Amren 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THE PROBLEM</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Head chefs guess breakfast, and food is wasted</a:t>
            </a:r>
            <a:endParaRPr lang="en-US" sz="3200" dirty="0"/>
          </a:p>
        </p:txBody>
      </p:sp>
      <p:sp>
        <p:nvSpPr>
          <p:cNvPr id="4" name="Shape 2"/>
          <p:cNvSpPr/>
          <p:nvPr/>
        </p:nvSpPr>
        <p:spPr>
          <a:xfrm>
            <a:off x="812767" y="1782878"/>
            <a:ext cx="3302000" cy="2732484"/>
          </a:xfrm>
          <a:prstGeom prst="roundRect">
            <a:avLst>
              <a:gd name="adj" fmla="val 6507"/>
            </a:avLst>
          </a:prstGeom>
          <a:solidFill>
            <a:srgbClr val="312F92"/>
          </a:solidFill>
          <a:ln/>
        </p:spPr>
        <p:txBody>
          <a:bodyPr/>
          <a:lstStyle/>
          <a:p>
            <a:endParaRPr lang="en-IN"/>
          </a:p>
        </p:txBody>
      </p:sp>
      <p:pic>
        <p:nvPicPr>
          <p:cNvPr id="5" name="Image 0" descr="Users"/>
          <p:cNvPicPr>
            <a:picLocks noChangeAspect="1"/>
          </p:cNvPicPr>
          <p:nvPr/>
        </p:nvPicPr>
        <p:blipFill>
          <a:blip r:embed="rId3"/>
          <a:srcRect/>
          <a:stretch/>
        </p:blipFill>
        <p:spPr>
          <a:xfrm>
            <a:off x="1041301" y="2011412"/>
            <a:ext cx="355534" cy="355534"/>
          </a:xfrm>
          <a:prstGeom prst="rect">
            <a:avLst/>
          </a:prstGeom>
        </p:spPr>
      </p:pic>
      <p:sp>
        <p:nvSpPr>
          <p:cNvPr id="6" name="Text 3"/>
          <p:cNvSpPr/>
          <p:nvPr/>
        </p:nvSpPr>
        <p:spPr>
          <a:xfrm>
            <a:off x="1041301" y="2455829"/>
            <a:ext cx="29302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B066"/>
                </a:solidFill>
                <a:latin typeface="Arial" pitchFamily="34" charset="0"/>
                <a:ea typeface="Arial" pitchFamily="34" charset="-122"/>
                <a:cs typeface="Arial" pitchFamily="34" charset="-120"/>
              </a:rPr>
              <a:t>PERSONA</a:t>
            </a:r>
            <a:endParaRPr lang="en-US" sz="1200" dirty="0"/>
          </a:p>
        </p:txBody>
      </p:sp>
      <p:sp>
        <p:nvSpPr>
          <p:cNvPr id="7" name="Text 4"/>
          <p:cNvSpPr/>
          <p:nvPr/>
        </p:nvSpPr>
        <p:spPr>
          <a:xfrm>
            <a:off x="1041301" y="2758033"/>
            <a:ext cx="293028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BF8F2"/>
                </a:solidFill>
                <a:latin typeface="Arial" pitchFamily="34" charset="0"/>
                <a:ea typeface="Arial" pitchFamily="34" charset="-122"/>
                <a:cs typeface="Arial" pitchFamily="34" charset="-120"/>
              </a:rPr>
              <a:t>Chef Senthil Kumar</a:t>
            </a:r>
            <a:endParaRPr lang="en-US" sz="2200" dirty="0"/>
          </a:p>
        </p:txBody>
      </p:sp>
      <p:sp>
        <p:nvSpPr>
          <p:cNvPr id="8" name="Text 5"/>
          <p:cNvSpPr/>
          <p:nvPr/>
        </p:nvSpPr>
        <p:spPr>
          <a:xfrm>
            <a:off x="1041301" y="3238004"/>
            <a:ext cx="2930280"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1DFF5"/>
                </a:solidFill>
                <a:latin typeface="Arial" pitchFamily="34" charset="0"/>
                <a:ea typeface="Arial" pitchFamily="34" charset="-122"/>
                <a:cs typeface="Arial" pitchFamily="34" charset="-120"/>
              </a:rPr>
              <a:t>Head chef, 41, at a 150-room business hotel in Tiruchirappalli. Plans at 9 PM from the occupancy printout. (Fictional persona)</a:t>
            </a:r>
            <a:endParaRPr lang="en-US" sz="1300" dirty="0"/>
          </a:p>
        </p:txBody>
      </p:sp>
      <p:sp>
        <p:nvSpPr>
          <p:cNvPr id="9" name="Shape 6"/>
          <p:cNvSpPr/>
          <p:nvPr/>
        </p:nvSpPr>
        <p:spPr>
          <a:xfrm>
            <a:off x="4324267" y="1789228"/>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0" name="Text 7"/>
          <p:cNvSpPr/>
          <p:nvPr/>
        </p:nvSpPr>
        <p:spPr>
          <a:xfrm>
            <a:off x="4506268" y="1945845"/>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1</a:t>
            </a:r>
            <a:endParaRPr lang="en-US" sz="1200" dirty="0"/>
          </a:p>
        </p:txBody>
      </p:sp>
      <p:sp>
        <p:nvSpPr>
          <p:cNvPr id="11" name="Text 8"/>
          <p:cNvSpPr/>
          <p:nvPr/>
        </p:nvSpPr>
        <p:spPr>
          <a:xfrm>
            <a:off x="4506268" y="2197199"/>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“Mondays the idli trays come back half full. Saturdays we run out of poori by 8:30.”</a:t>
            </a:r>
            <a:endParaRPr lang="en-US" sz="1400" dirty="0"/>
          </a:p>
        </p:txBody>
      </p:sp>
      <p:sp>
        <p:nvSpPr>
          <p:cNvPr id="12" name="Shape 9"/>
          <p:cNvSpPr/>
          <p:nvPr/>
        </p:nvSpPr>
        <p:spPr>
          <a:xfrm>
            <a:off x="4324267" y="2742389"/>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3" name="Text 10"/>
          <p:cNvSpPr/>
          <p:nvPr/>
        </p:nvSpPr>
        <p:spPr>
          <a:xfrm>
            <a:off x="4506268" y="2899006"/>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2</a:t>
            </a:r>
            <a:endParaRPr lang="en-US" sz="1200" dirty="0"/>
          </a:p>
        </p:txBody>
      </p:sp>
      <p:sp>
        <p:nvSpPr>
          <p:cNvPr id="14" name="Text 11"/>
          <p:cNvSpPr/>
          <p:nvPr/>
        </p:nvSpPr>
        <p:spPr>
          <a:xfrm>
            <a:off x="4506268" y="3150360"/>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Waste eats the kitchen budget; running out brings complaints and stress</a:t>
            </a:r>
            <a:endParaRPr lang="en-US" sz="1400" dirty="0"/>
          </a:p>
        </p:txBody>
      </p:sp>
      <p:sp>
        <p:nvSpPr>
          <p:cNvPr id="15" name="Shape 12"/>
          <p:cNvSpPr/>
          <p:nvPr/>
        </p:nvSpPr>
        <p:spPr>
          <a:xfrm>
            <a:off x="4324267" y="3695551"/>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6" name="Text 13"/>
          <p:cNvSpPr/>
          <p:nvPr/>
        </p:nvSpPr>
        <p:spPr>
          <a:xfrm>
            <a:off x="4506268" y="3852168"/>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What they do today</a:t>
            </a:r>
            <a:endParaRPr lang="en-US" sz="1200" dirty="0"/>
          </a:p>
        </p:txBody>
      </p:sp>
      <p:sp>
        <p:nvSpPr>
          <p:cNvPr id="17" name="Text 14"/>
          <p:cNvSpPr/>
          <p:nvPr/>
        </p:nvSpPr>
        <p:spPr>
          <a:xfrm>
            <a:off x="4506268" y="4103522"/>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Gut feel plus “a bit extra to be safe”: never written down or checked, so errors repeat</a:t>
            </a:r>
            <a:endParaRPr lang="en-US" sz="1400" dirty="0"/>
          </a:p>
        </p:txBody>
      </p:sp>
      <p:sp>
        <p:nvSpPr>
          <p:cNvPr id="18" name="Text 15"/>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BreakfastWise · JJCET AI-PDLC Hackathon</a:t>
            </a:r>
            <a:endParaRPr lang="en-US" sz="1200" dirty="0"/>
          </a:p>
        </p:txBody>
      </p:sp>
      <p:sp>
        <p:nvSpPr>
          <p:cNvPr id="19" name="Text 16"/>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821E"/>
        </a:solidFill>
        <a:effectLst/>
      </p:bgPr>
    </p:bg>
    <p:spTree>
      <p:nvGrpSpPr>
        <p:cNvPr id="1" name=""/>
        <p:cNvGrpSpPr/>
        <p:nvPr/>
      </p:nvGrpSpPr>
      <p:grpSpPr>
        <a:xfrm>
          <a:off x="0" y="0"/>
          <a:ext cx="0" cy="0"/>
          <a:chOff x="0" y="0"/>
          <a:chExt cx="0" cy="0"/>
        </a:xfrm>
      </p:grpSpPr>
      <p:sp>
        <p:nvSpPr>
          <p:cNvPr id="2" name="Text 0"/>
          <p:cNvSpPr/>
          <p:nvPr/>
        </p:nvSpPr>
        <p:spPr>
          <a:xfrm>
            <a:off x="812767" y="2014305"/>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154A"/>
                </a:solidFill>
                <a:latin typeface="Arial" pitchFamily="34" charset="0"/>
                <a:ea typeface="Arial" pitchFamily="34" charset="-122"/>
                <a:cs typeface="Arial" pitchFamily="34" charset="-120"/>
              </a:rPr>
              <a:t>WHAT OUR MRD TAUGHT US</a:t>
            </a:r>
            <a:endParaRPr lang="en-US" sz="1200" dirty="0"/>
          </a:p>
        </p:txBody>
      </p:sp>
      <p:sp>
        <p:nvSpPr>
          <p:cNvPr id="3" name="Text 1"/>
          <p:cNvSpPr>
            <a:spLocks noGrp="1"/>
          </p:cNvSpPr>
          <p:nvPr>
            <p:ph type="title"/>
          </p:nvPr>
        </p:nvSpPr>
        <p:spPr>
          <a:xfrm>
            <a:off x="812767" y="2481625"/>
            <a:ext cx="9810750" cy="1142934"/>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7154A"/>
                </a:solidFill>
                <a:latin typeface="Arial" pitchFamily="34" charset="0"/>
                <a:ea typeface="Arial" pitchFamily="34" charset="-122"/>
                <a:cs typeface="Arial" pitchFamily="34" charset="-120"/>
              </a:rPr>
              <a:t>“Same-weekday averages do most of the work. No ML needed.”</a:t>
            </a:r>
            <a:endParaRPr lang="en-US" sz="4000" dirty="0"/>
          </a:p>
        </p:txBody>
      </p:sp>
      <p:sp>
        <p:nvSpPr>
          <p:cNvPr id="4" name="Shape 2"/>
          <p:cNvSpPr/>
          <p:nvPr/>
        </p:nvSpPr>
        <p:spPr>
          <a:xfrm>
            <a:off x="812767" y="3853160"/>
            <a:ext cx="5207000" cy="787218"/>
          </a:xfrm>
          <a:prstGeom prst="roundRect">
            <a:avLst>
              <a:gd name="adj" fmla="val 16133"/>
            </a:avLst>
          </a:prstGeom>
          <a:solidFill>
            <a:srgbClr val="17154A"/>
          </a:solidFill>
          <a:ln/>
        </p:spPr>
        <p:txBody>
          <a:bodyPr/>
          <a:lstStyle/>
          <a:p>
            <a:endParaRPr lang="en-IN"/>
          </a:p>
        </p:txBody>
      </p:sp>
      <p:sp>
        <p:nvSpPr>
          <p:cNvPr id="5" name="Text 3"/>
          <p:cNvSpPr/>
          <p:nvPr/>
        </p:nvSpPr>
        <p:spPr>
          <a:xfrm>
            <a:off x="990534" y="4005543"/>
            <a:ext cx="49970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Evidence</a:t>
            </a:r>
            <a:endParaRPr lang="en-US" sz="1200" dirty="0"/>
          </a:p>
        </p:txBody>
      </p:sp>
      <p:sp>
        <p:nvSpPr>
          <p:cNvPr id="6" name="Text 4"/>
          <p:cNvSpPr/>
          <p:nvPr/>
        </p:nvSpPr>
        <p:spPr>
          <a:xfrm>
            <a:off x="990534" y="4256897"/>
            <a:ext cx="4997010"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8F2"/>
                </a:solidFill>
                <a:latin typeface="Arial" pitchFamily="34" charset="0"/>
                <a:ea typeface="Arial" pitchFamily="34" charset="-122"/>
                <a:cs typeface="Arial" pitchFamily="34" charset="-120"/>
              </a:rPr>
              <a:t>Current demo: 21.71% MAPE on 5 eligible synthetic days</a:t>
            </a:r>
            <a:endParaRPr lang="en-US" sz="1300" dirty="0"/>
          </a:p>
        </p:txBody>
      </p:sp>
      <p:sp>
        <p:nvSpPr>
          <p:cNvPr id="7" name="Shape 5"/>
          <p:cNvSpPr/>
          <p:nvPr/>
        </p:nvSpPr>
        <p:spPr>
          <a:xfrm>
            <a:off x="6172150" y="3853160"/>
            <a:ext cx="5207083" cy="787218"/>
          </a:xfrm>
          <a:prstGeom prst="roundRect">
            <a:avLst>
              <a:gd name="adj" fmla="val 16133"/>
            </a:avLst>
          </a:prstGeom>
          <a:solidFill>
            <a:srgbClr val="17154A"/>
          </a:solidFill>
          <a:ln/>
        </p:spPr>
        <p:txBody>
          <a:bodyPr/>
          <a:lstStyle/>
          <a:p>
            <a:endParaRPr lang="en-IN"/>
          </a:p>
        </p:txBody>
      </p:sp>
      <p:sp>
        <p:nvSpPr>
          <p:cNvPr id="8" name="Text 6"/>
          <p:cNvSpPr/>
          <p:nvPr/>
        </p:nvSpPr>
        <p:spPr>
          <a:xfrm>
            <a:off x="6349917" y="4005543"/>
            <a:ext cx="4997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Assumption</a:t>
            </a:r>
            <a:endParaRPr lang="en-US" sz="1200" dirty="0"/>
          </a:p>
        </p:txBody>
      </p:sp>
      <p:sp>
        <p:nvSpPr>
          <p:cNvPr id="9" name="Text 7"/>
          <p:cNvSpPr/>
          <p:nvPr/>
        </p:nvSpPr>
        <p:spPr>
          <a:xfrm>
            <a:off x="6349917" y="4256897"/>
            <a:ext cx="4997095"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8F2"/>
                </a:solidFill>
                <a:latin typeface="Arial" pitchFamily="34" charset="0"/>
                <a:ea typeface="Arial" pitchFamily="34" charset="-122"/>
                <a:cs typeface="Arial" pitchFamily="34" charset="-120"/>
              </a:rPr>
              <a:t>Hotels can split covers by guest type and know events in advance</a:t>
            </a:r>
            <a:endParaRPr lang="en-US" sz="1300" dirty="0"/>
          </a:p>
        </p:txBody>
      </p:sp>
      <p:sp>
        <p:nvSpPr>
          <p:cNvPr id="10" name="Text 8"/>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1A08"/>
                </a:solidFill>
                <a:latin typeface="Arial" pitchFamily="34" charset="0"/>
                <a:ea typeface="Arial" pitchFamily="34" charset="-122"/>
                <a:cs typeface="Arial" pitchFamily="34" charset="-120"/>
              </a:rPr>
              <a:t>BreakfastWise · JJCET AI-PDLC Hackathon</a:t>
            </a:r>
            <a:endParaRPr lang="en-US" sz="1200" dirty="0"/>
          </a:p>
        </p:txBody>
      </p:sp>
      <p:sp>
        <p:nvSpPr>
          <p:cNvPr id="11" name="Text 9"/>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B1A08"/>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PRODUCT DECISIONS</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we’re building, and what we cut</a:t>
            </a:r>
            <a:endParaRPr lang="en-US" sz="3200" dirty="0"/>
          </a:p>
        </p:txBody>
      </p:sp>
      <p:sp>
        <p:nvSpPr>
          <p:cNvPr id="4" name="Shape 2"/>
          <p:cNvSpPr/>
          <p:nvPr/>
        </p:nvSpPr>
        <p:spPr>
          <a:xfrm>
            <a:off x="812767" y="1782877"/>
            <a:ext cx="5171033" cy="2078385"/>
          </a:xfrm>
          <a:prstGeom prst="roundRect">
            <a:avLst>
              <a:gd name="adj" fmla="val 8555"/>
            </a:avLst>
          </a:prstGeom>
          <a:solidFill>
            <a:srgbClr val="312F92"/>
          </a:solidFill>
          <a:ln/>
        </p:spPr>
        <p:txBody>
          <a:bodyPr/>
          <a:lstStyle/>
          <a:p>
            <a:endParaRPr lang="en-IN"/>
          </a:p>
        </p:txBody>
      </p:sp>
      <p:sp>
        <p:nvSpPr>
          <p:cNvPr id="5" name="Text 3"/>
          <p:cNvSpPr/>
          <p:nvPr/>
        </p:nvSpPr>
        <p:spPr>
          <a:xfrm>
            <a:off x="1041301" y="2011412"/>
            <a:ext cx="4855384"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FB066"/>
                </a:solidFill>
                <a:latin typeface="Arial" pitchFamily="34" charset="0"/>
                <a:ea typeface="Arial" pitchFamily="34" charset="-122"/>
                <a:cs typeface="Arial" pitchFamily="34" charset="-120"/>
              </a:rPr>
              <a:t>PROTOTYPE · CURRENT SCOPE</a:t>
            </a:r>
            <a:endParaRPr lang="en-US" sz="1300" dirty="0"/>
          </a:p>
        </p:txBody>
      </p:sp>
      <p:pic>
        <p:nvPicPr>
          <p:cNvPr id="6" name="Image 0" descr="CheckCircle"/>
          <p:cNvPicPr>
            <a:picLocks noChangeAspect="1"/>
          </p:cNvPicPr>
          <p:nvPr/>
        </p:nvPicPr>
        <p:blipFill>
          <a:blip r:embed="rId3"/>
          <a:srcRect/>
          <a:stretch/>
        </p:blipFill>
        <p:spPr>
          <a:xfrm>
            <a:off x="1041301" y="2356776"/>
            <a:ext cx="228534" cy="228534"/>
          </a:xfrm>
          <a:prstGeom prst="rect">
            <a:avLst/>
          </a:prstGeom>
        </p:spPr>
      </p:pic>
      <p:sp>
        <p:nvSpPr>
          <p:cNvPr id="7" name="Text 4"/>
          <p:cNvSpPr/>
          <p:nvPr/>
        </p:nvSpPr>
        <p:spPr>
          <a:xfrm>
            <a:off x="1371368" y="2356776"/>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Tomorrow’s covers, with the calculation shown</a:t>
            </a:r>
            <a:endParaRPr lang="en-US" sz="1400" dirty="0"/>
          </a:p>
        </p:txBody>
      </p:sp>
      <p:pic>
        <p:nvPicPr>
          <p:cNvPr id="8" name="Image 1" descr="CheckCircle"/>
          <p:cNvPicPr>
            <a:picLocks noChangeAspect="1"/>
          </p:cNvPicPr>
          <p:nvPr/>
        </p:nvPicPr>
        <p:blipFill>
          <a:blip r:embed="rId3"/>
          <a:srcRect/>
          <a:stretch/>
        </p:blipFill>
        <p:spPr>
          <a:xfrm>
            <a:off x="1041301" y="2710986"/>
            <a:ext cx="228534" cy="228534"/>
          </a:xfrm>
          <a:prstGeom prst="rect">
            <a:avLst/>
          </a:prstGeom>
        </p:spPr>
      </p:pic>
      <p:sp>
        <p:nvSpPr>
          <p:cNvPr id="9" name="Text 5"/>
          <p:cNvSpPr/>
          <p:nvPr/>
        </p:nvSpPr>
        <p:spPr>
          <a:xfrm>
            <a:off x="1371368" y="2710986"/>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Prep for 5 dishes, with a 10% buffer slider</a:t>
            </a:r>
            <a:endParaRPr lang="en-US" sz="1400" dirty="0"/>
          </a:p>
        </p:txBody>
      </p:sp>
      <p:pic>
        <p:nvPicPr>
          <p:cNvPr id="10" name="Image 2" descr="CheckCircle"/>
          <p:cNvPicPr>
            <a:picLocks noChangeAspect="1"/>
          </p:cNvPicPr>
          <p:nvPr/>
        </p:nvPicPr>
        <p:blipFill>
          <a:blip r:embed="rId3"/>
          <a:srcRect/>
          <a:stretch/>
        </p:blipFill>
        <p:spPr>
          <a:xfrm>
            <a:off x="1041301" y="3065197"/>
            <a:ext cx="228534" cy="228534"/>
          </a:xfrm>
          <a:prstGeom prst="rect">
            <a:avLst/>
          </a:prstGeom>
        </p:spPr>
      </p:pic>
      <p:sp>
        <p:nvSpPr>
          <p:cNvPr id="11" name="Text 6"/>
          <p:cNvSpPr/>
          <p:nvPr/>
        </p:nvSpPr>
        <p:spPr>
          <a:xfrm>
            <a:off x="1371368" y="3065197"/>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Dish history: 13 synthetic dates currently available</a:t>
            </a:r>
            <a:endParaRPr lang="en-US" sz="1400" dirty="0"/>
          </a:p>
        </p:txBody>
      </p:sp>
      <p:sp>
        <p:nvSpPr>
          <p:cNvPr id="12" name="Text 7"/>
          <p:cNvSpPr/>
          <p:nvPr/>
        </p:nvSpPr>
        <p:spPr>
          <a:xfrm>
            <a:off x="1041301" y="3419408"/>
            <a:ext cx="48553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6D3F0"/>
                </a:solidFill>
                <a:latin typeface="Arial" pitchFamily="34" charset="0"/>
                <a:ea typeface="Arial" pitchFamily="34" charset="-122"/>
                <a:cs typeface="Arial" pitchFamily="34" charset="-120"/>
              </a:rPr>
              <a:t>Target: MAPE ≤ 10% across 14 eligible days</a:t>
            </a:r>
            <a:endParaRPr lang="en-US" sz="1200" dirty="0"/>
          </a:p>
        </p:txBody>
      </p:sp>
      <p:sp>
        <p:nvSpPr>
          <p:cNvPr id="13" name="Shape 8"/>
          <p:cNvSpPr/>
          <p:nvPr/>
        </p:nvSpPr>
        <p:spPr>
          <a:xfrm>
            <a:off x="6193300" y="1789227"/>
            <a:ext cx="5179582" cy="2065685"/>
          </a:xfrm>
          <a:prstGeom prst="roundRect">
            <a:avLst>
              <a:gd name="adj" fmla="val 8300"/>
            </a:avLst>
          </a:prstGeom>
          <a:solidFill>
            <a:srgbClr val="FFFDF9"/>
          </a:solidFill>
          <a:ln w="12700">
            <a:solidFill>
              <a:srgbClr val="E3E0F2"/>
            </a:solidFill>
            <a:prstDash val="solid"/>
          </a:ln>
        </p:spPr>
        <p:txBody>
          <a:bodyPr/>
          <a:lstStyle/>
          <a:p>
            <a:endParaRPr lang="en-IN"/>
          </a:p>
        </p:txBody>
      </p:sp>
      <p:sp>
        <p:nvSpPr>
          <p:cNvPr id="14" name="Text 9"/>
          <p:cNvSpPr/>
          <p:nvPr/>
        </p:nvSpPr>
        <p:spPr>
          <a:xfrm>
            <a:off x="6426067" y="2021994"/>
            <a:ext cx="4855469"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A3E05"/>
                </a:solidFill>
                <a:latin typeface="Arial" pitchFamily="34" charset="0"/>
                <a:ea typeface="Arial" pitchFamily="34" charset="-122"/>
                <a:cs typeface="Arial" pitchFamily="34" charset="-120"/>
              </a:rPr>
              <a:t>CUT ON PURPOSE</a:t>
            </a:r>
            <a:endParaRPr lang="en-US" sz="1300" dirty="0"/>
          </a:p>
        </p:txBody>
      </p:sp>
      <p:sp>
        <p:nvSpPr>
          <p:cNvPr id="15" name="Text 10"/>
          <p:cNvSpPr/>
          <p:nvPr/>
        </p:nvSpPr>
        <p:spPr>
          <a:xfrm>
            <a:off x="6426067" y="2367359"/>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Machine learning — a formula chefs can check builds trust</a:t>
            </a:r>
            <a:endParaRPr lang="en-US" sz="1400" dirty="0"/>
          </a:p>
        </p:txBody>
      </p:sp>
      <p:sp>
        <p:nvSpPr>
          <p:cNvPr id="16" name="Text 11"/>
          <p:cNvSpPr/>
          <p:nvPr/>
        </p:nvSpPr>
        <p:spPr>
          <a:xfrm>
            <a:off x="6426067" y="2721570"/>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Weather and holidays — no reliable data in 1.5 days</a:t>
            </a:r>
            <a:endParaRPr lang="en-US" sz="1400" dirty="0"/>
          </a:p>
        </p:txBody>
      </p:sp>
      <p:sp>
        <p:nvSpPr>
          <p:cNvPr id="17" name="Text 12"/>
          <p:cNvSpPr/>
          <p:nvPr/>
        </p:nvSpPr>
        <p:spPr>
          <a:xfrm>
            <a:off x="6426067" y="3075781"/>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One waste total — pieces, kg and litres don’t add</a:t>
            </a:r>
            <a:endParaRPr lang="en-US" sz="14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BreakfastWise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54A"/>
        </a:solidFill>
        <a:effectLst/>
      </p:bgPr>
    </p:bg>
    <p:spTree>
      <p:nvGrpSpPr>
        <p:cNvPr id="1" name=""/>
        <p:cNvGrpSpPr/>
        <p:nvPr/>
      </p:nvGrpSpPr>
      <p:grpSpPr>
        <a:xfrm>
          <a:off x="0" y="0"/>
          <a:ext cx="0" cy="0"/>
          <a:chOff x="0" y="0"/>
          <a:chExt cx="0" cy="0"/>
        </a:xfrm>
      </p:grpSpPr>
      <p:sp>
        <p:nvSpPr>
          <p:cNvPr id="2" name="Text 0"/>
          <p:cNvSpPr/>
          <p:nvPr/>
        </p:nvSpPr>
        <p:spPr>
          <a:xfrm>
            <a:off x="812767" y="812766"/>
            <a:ext cx="738241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B066"/>
                </a:solidFill>
                <a:latin typeface="Arial" pitchFamily="34" charset="0"/>
                <a:ea typeface="Arial" pitchFamily="34" charset="-122"/>
                <a:cs typeface="Arial" pitchFamily="34" charset="-120"/>
              </a:rPr>
              <a:t>LIVE DEMO – 15 MIN</a:t>
            </a:r>
            <a:endParaRPr lang="en-US" sz="1200" dirty="0"/>
          </a:p>
        </p:txBody>
      </p:sp>
      <p:grpSp>
        <p:nvGrpSpPr>
          <p:cNvPr id="12" name="Group 11">
            <a:extLst>
              <a:ext uri="{FF2B5EF4-FFF2-40B4-BE49-F238E27FC236}">
                <a16:creationId xmlns:a16="http://schemas.microsoft.com/office/drawing/2014/main" id="{02CC949A-F025-BDE3-35E4-1AB388A675A6}"/>
              </a:ext>
            </a:extLst>
          </p:cNvPr>
          <p:cNvGrpSpPr/>
          <p:nvPr/>
        </p:nvGrpSpPr>
        <p:grpSpPr>
          <a:xfrm>
            <a:off x="726503" y="1482393"/>
            <a:ext cx="10566466" cy="508000"/>
            <a:chOff x="812767" y="4299396"/>
            <a:chExt cx="10566466" cy="508000"/>
          </a:xfrm>
        </p:grpSpPr>
        <p:sp>
          <p:nvSpPr>
            <p:cNvPr id="5" name="Shape 2"/>
            <p:cNvSpPr/>
            <p:nvPr/>
          </p:nvSpPr>
          <p:spPr>
            <a:xfrm>
              <a:off x="812767" y="4299396"/>
              <a:ext cx="10566466" cy="508000"/>
            </a:xfrm>
            <a:prstGeom prst="roundRect">
              <a:avLst>
                <a:gd name="adj" fmla="val 25000"/>
              </a:avLst>
            </a:prstGeom>
            <a:solidFill>
              <a:srgbClr val="F8821E"/>
            </a:solidFill>
            <a:ln/>
          </p:spPr>
          <p:txBody>
            <a:bodyPr/>
            <a:lstStyle/>
            <a:p>
              <a:endParaRPr lang="en-IN"/>
            </a:p>
          </p:txBody>
        </p:sp>
        <p:pic>
          <p:nvPicPr>
            <p:cNvPr id="6" name="Image 0" descr="Play"/>
            <p:cNvPicPr>
              <a:picLocks noChangeAspect="1"/>
            </p:cNvPicPr>
            <p:nvPr/>
          </p:nvPicPr>
          <p:blipFill>
            <a:blip r:embed="rId3"/>
            <a:srcRect/>
            <a:stretch/>
          </p:blipFill>
          <p:spPr>
            <a:xfrm>
              <a:off x="990534" y="4426396"/>
              <a:ext cx="254000" cy="254000"/>
            </a:xfrm>
            <a:prstGeom prst="rect">
              <a:avLst/>
            </a:prstGeom>
          </p:spPr>
        </p:pic>
        <p:sp>
          <p:nvSpPr>
            <p:cNvPr id="7" name="Text 3"/>
            <p:cNvSpPr/>
            <p:nvPr/>
          </p:nvSpPr>
          <p:spPr>
            <a:xfrm>
              <a:off x="1371534" y="4428958"/>
              <a:ext cx="6808787"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54A"/>
                  </a:solidFill>
                  <a:latin typeface="Arial" pitchFamily="34" charset="0"/>
                  <a:ea typeface="Arial" pitchFamily="34" charset="-122"/>
                  <a:cs typeface="Arial" pitchFamily="34" charset="-120"/>
                </a:rPr>
                <a:t>Switch to the app now. Backup recording: BreakfastWise_demo_backup.mp4</a:t>
              </a:r>
              <a:endParaRPr lang="en-US" sz="1400" dirty="0"/>
            </a:p>
          </p:txBody>
        </p:sp>
      </p:grpSp>
      <p:sp>
        <p:nvSpPr>
          <p:cNvPr id="8"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6D6"/>
                </a:solidFill>
                <a:latin typeface="Arial" pitchFamily="34" charset="0"/>
                <a:ea typeface="Arial" pitchFamily="34" charset="-122"/>
                <a:cs typeface="Arial" pitchFamily="34" charset="-120"/>
              </a:rPr>
              <a:t>BreakfastWise · JJCET AI-PDLC Hackathon</a:t>
            </a:r>
            <a:endParaRPr lang="en-US" sz="1200" dirty="0"/>
          </a:p>
        </p:txBody>
      </p:sp>
      <p:sp>
        <p:nvSpPr>
          <p:cNvPr id="9"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A6D6"/>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HOW WE USED AI</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worked, what it got wrong, what we changed</a:t>
            </a:r>
            <a:endParaRPr lang="en-US" sz="3200" dirty="0"/>
          </a:p>
        </p:txBody>
      </p:sp>
      <p:sp>
        <p:nvSpPr>
          <p:cNvPr id="4" name="Shape 2"/>
          <p:cNvSpPr/>
          <p:nvPr/>
        </p:nvSpPr>
        <p:spPr>
          <a:xfrm>
            <a:off x="819117" y="1789227"/>
            <a:ext cx="3414894"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5" name="Image 0" descr="ThumbsUp"/>
          <p:cNvPicPr>
            <a:picLocks noChangeAspect="1"/>
          </p:cNvPicPr>
          <p:nvPr/>
        </p:nvPicPr>
        <p:blipFill>
          <a:blip r:embed="rId3"/>
          <a:srcRect/>
          <a:stretch/>
        </p:blipFill>
        <p:spPr>
          <a:xfrm>
            <a:off x="1026501" y="1996610"/>
            <a:ext cx="254000" cy="254000"/>
          </a:xfrm>
          <a:prstGeom prst="rect">
            <a:avLst/>
          </a:prstGeom>
        </p:spPr>
      </p:pic>
      <p:sp>
        <p:nvSpPr>
          <p:cNvPr id="6" name="Text 3"/>
          <p:cNvSpPr/>
          <p:nvPr/>
        </p:nvSpPr>
        <p:spPr>
          <a:xfrm>
            <a:off x="1369384" y="2001655"/>
            <a:ext cx="228957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Prompt that worked</a:t>
            </a:r>
            <a:endParaRPr lang="en-US" sz="1600" dirty="0"/>
          </a:p>
        </p:txBody>
      </p:sp>
      <p:sp>
        <p:nvSpPr>
          <p:cNvPr id="7" name="Text 4"/>
          <p:cNvSpPr/>
          <p:nvPr/>
        </p:nvSpPr>
        <p:spPr>
          <a:xfrm>
            <a:off x="1026501" y="2339494"/>
            <a:ext cx="3090131"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A5A"/>
                </a:solidFill>
                <a:latin typeface="Arial" pitchFamily="34" charset="0"/>
                <a:ea typeface="Arial" pitchFamily="34" charset="-122"/>
                <a:cs typeface="Arial" pitchFamily="34" charset="-120"/>
              </a:rPr>
              <a:t>“Grill me on this, one round at a time”</a:t>
            </a:r>
            <a:endParaRPr lang="en-US" sz="1300" dirty="0"/>
          </a:p>
        </p:txBody>
      </p:sp>
      <p:sp>
        <p:nvSpPr>
          <p:cNvPr id="8" name="Text 5"/>
          <p:cNvSpPr/>
          <p:nvPr/>
        </p:nvSpPr>
        <p:spPr>
          <a:xfrm>
            <a:off x="1026501" y="2659475"/>
            <a:ext cx="30901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Tool / skill: grill-me, in Claude Code</a:t>
            </a:r>
            <a:endParaRPr lang="en-US" sz="1200" dirty="0"/>
          </a:p>
        </p:txBody>
      </p:sp>
      <p:sp>
        <p:nvSpPr>
          <p:cNvPr id="9" name="Shape 6"/>
          <p:cNvSpPr/>
          <p:nvPr/>
        </p:nvSpPr>
        <p:spPr>
          <a:xfrm>
            <a:off x="4399095" y="1789227"/>
            <a:ext cx="3414977"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10" name="Image 1" descr="Warning"/>
          <p:cNvPicPr>
            <a:picLocks noChangeAspect="1"/>
          </p:cNvPicPr>
          <p:nvPr/>
        </p:nvPicPr>
        <p:blipFill>
          <a:blip r:embed="rId4"/>
          <a:srcRect/>
          <a:stretch/>
        </p:blipFill>
        <p:spPr>
          <a:xfrm>
            <a:off x="4606479" y="1996610"/>
            <a:ext cx="254000" cy="254000"/>
          </a:xfrm>
          <a:prstGeom prst="rect">
            <a:avLst/>
          </a:prstGeom>
        </p:spPr>
      </p:pic>
      <p:sp>
        <p:nvSpPr>
          <p:cNvPr id="11" name="Text 7"/>
          <p:cNvSpPr/>
          <p:nvPr/>
        </p:nvSpPr>
        <p:spPr>
          <a:xfrm>
            <a:off x="4949362" y="2001655"/>
            <a:ext cx="214451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What AI got wrong</a:t>
            </a:r>
            <a:endParaRPr lang="en-US" sz="1600" dirty="0"/>
          </a:p>
        </p:txBody>
      </p:sp>
      <p:sp>
        <p:nvSpPr>
          <p:cNvPr id="12" name="Text 8"/>
          <p:cNvSpPr/>
          <p:nvPr/>
        </p:nvSpPr>
        <p:spPr>
          <a:xfrm>
            <a:off x="4606479" y="2339494"/>
            <a:ext cx="3090216"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A5A"/>
                </a:solidFill>
                <a:latin typeface="Arial" pitchFamily="34" charset="0"/>
                <a:ea typeface="Arial" pitchFamily="34" charset="-122"/>
                <a:cs typeface="Arial" pitchFamily="34" charset="-120"/>
              </a:rPr>
              <a:t>Made unsupported codebase claims and mixed event data into evaluation</a:t>
            </a:r>
            <a:endParaRPr lang="en-US" sz="1300" dirty="0"/>
          </a:p>
        </p:txBody>
      </p:sp>
      <p:sp>
        <p:nvSpPr>
          <p:cNvPr id="13" name="Text 9"/>
          <p:cNvSpPr/>
          <p:nvPr/>
        </p:nvSpPr>
        <p:spPr>
          <a:xfrm>
            <a:off x="4606479" y="2890571"/>
            <a:ext cx="30902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How we caught it: codebase inspection, MRD review, leakage checks</a:t>
            </a:r>
            <a:endParaRPr lang="en-US" sz="1200" dirty="0"/>
          </a:p>
        </p:txBody>
      </p:sp>
      <p:sp>
        <p:nvSpPr>
          <p:cNvPr id="14" name="Shape 10"/>
          <p:cNvSpPr/>
          <p:nvPr/>
        </p:nvSpPr>
        <p:spPr>
          <a:xfrm>
            <a:off x="7972805" y="1782877"/>
            <a:ext cx="3406428" cy="1534749"/>
          </a:xfrm>
          <a:prstGeom prst="roundRect">
            <a:avLst>
              <a:gd name="adj" fmla="val 9930"/>
            </a:avLst>
          </a:prstGeom>
          <a:solidFill>
            <a:srgbClr val="312F92"/>
          </a:solidFill>
          <a:ln/>
        </p:spPr>
        <p:txBody>
          <a:bodyPr/>
          <a:lstStyle/>
          <a:p>
            <a:endParaRPr lang="en-IN"/>
          </a:p>
        </p:txBody>
      </p:sp>
      <p:pic>
        <p:nvPicPr>
          <p:cNvPr id="15" name="Image 2" descr="Wrench"/>
          <p:cNvPicPr>
            <a:picLocks noChangeAspect="1"/>
          </p:cNvPicPr>
          <p:nvPr/>
        </p:nvPicPr>
        <p:blipFill>
          <a:blip r:embed="rId5"/>
          <a:srcRect/>
          <a:stretch/>
        </p:blipFill>
        <p:spPr>
          <a:xfrm>
            <a:off x="8175955" y="1986028"/>
            <a:ext cx="254000" cy="254000"/>
          </a:xfrm>
          <a:prstGeom prst="rect">
            <a:avLst/>
          </a:prstGeom>
        </p:spPr>
      </p:pic>
      <p:sp>
        <p:nvSpPr>
          <p:cNvPr id="16" name="Text 11"/>
          <p:cNvSpPr/>
          <p:nvPr/>
        </p:nvSpPr>
        <p:spPr>
          <a:xfrm>
            <a:off x="8518839" y="1991072"/>
            <a:ext cx="20593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8F2"/>
                </a:solidFill>
                <a:latin typeface="Arial" pitchFamily="34" charset="0"/>
                <a:ea typeface="Arial" pitchFamily="34" charset="-122"/>
                <a:cs typeface="Arial" pitchFamily="34" charset="-120"/>
              </a:rPr>
              <a:t>What we changed</a:t>
            </a:r>
            <a:endParaRPr lang="en-US" sz="1600" dirty="0"/>
          </a:p>
        </p:txBody>
      </p:sp>
      <p:sp>
        <p:nvSpPr>
          <p:cNvPr id="17" name="Text 12"/>
          <p:cNvSpPr/>
          <p:nvPr/>
        </p:nvSpPr>
        <p:spPr>
          <a:xfrm>
            <a:off x="8175955" y="2328912"/>
            <a:ext cx="3090131"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1DFF5"/>
                </a:solidFill>
                <a:latin typeface="Arial" pitchFamily="34" charset="0"/>
                <a:ea typeface="Arial" pitchFamily="34" charset="-122"/>
                <a:cs typeface="Arial" pitchFamily="34" charset="-120"/>
              </a:rPr>
              <a:t>Built the current FastAPI + HTML/CSS/JS prototype and added leak-free checks. Next time: require file/source evidence for every claim</a:t>
            </a:r>
            <a:endParaRPr lang="en-US" sz="13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BreakfastWise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theme/theme1.xml><?xml version="1.0" encoding="utf-8"?>
<a:theme xmlns:a="http://schemas.openxmlformats.org/drawingml/2006/main" name="JJCET Hackathon Team Demo Template">
  <a:themeElements>
    <a:clrScheme name="JJCET Hackathon Team Demo Template">
      <a:dk1>
        <a:srgbClr val="17154A"/>
      </a:dk1>
      <a:lt1>
        <a:srgbClr val="FBF8F2"/>
      </a:lt1>
      <a:dk2>
        <a:srgbClr val="504E74"/>
      </a:dk2>
      <a:lt2>
        <a:srgbClr val="E4E1E1"/>
      </a:lt2>
      <a:accent1>
        <a:srgbClr val="F8821E"/>
      </a:accent1>
      <a:accent2>
        <a:srgbClr val="FFB066"/>
      </a:accent2>
      <a:accent3>
        <a:srgbClr val="312F92"/>
      </a:accent3>
      <a:accent4>
        <a:srgbClr val="8A3E05"/>
      </a:accent4>
      <a:accent5>
        <a:srgbClr val="B4550A"/>
      </a:accent5>
      <a:accent6>
        <a:srgbClr val="A9A6D6"/>
      </a:accent6>
      <a:hlink>
        <a:srgbClr val="0563C1"/>
      </a:hlink>
      <a:folHlink>
        <a:srgbClr val="954F72"/>
      </a:folHlink>
    </a:clrScheme>
    <a:fontScheme name="JJCET Hackathon Team Demo Templ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621</Words>
  <Application>Microsoft Office PowerPoint</Application>
  <PresentationFormat>Widescreen</PresentationFormat>
  <Paragraphs>73</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JJCET Hackathon Team Demo Template</vt:lpstr>
      <vt:lpstr>[Team name]</vt:lpstr>
      <vt:lpstr>[One sentence: who struggles, with what]</vt:lpstr>
      <vt:lpstr>“[The one insight that changed what you built]”</vt:lpstr>
      <vt:lpstr>What we built, and what we cut</vt:lpstr>
      <vt:lpstr>PowerPoint Presentation</vt:lpstr>
      <vt:lpstr>What worked, what it got wrong, what we changed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JJCET Hackathon Team Demo Template</dc:title>
  <dc:subject/>
  <dc:creator/>
  <cp:lastModifiedBy>Shan</cp:lastModifiedBy>
  <cp:revision>1</cp:revision>
  <dcterms:created xsi:type="dcterms:W3CDTF">2026-10-21T16:29:27Z</dcterms:created>
  <dcterms:modified xsi:type="dcterms:W3CDTF">2026-10-21T16:59:14Z</dcterms:modified>
</cp:coreProperties>
</file>